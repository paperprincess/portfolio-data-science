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2" r:id="rId7"/>
    <p:sldId id="271" r:id="rId8"/>
    <p:sldId id="274" r:id="rId9"/>
    <p:sldId id="273" r:id="rId10"/>
    <p:sldId id="27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0AF2E-92CA-496B-9683-FB5B33336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548A69-E69C-42C2-BA53-91B378CAA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57CA5D-A7FE-41C8-A8DC-90457FB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0E0F7-5433-4AC1-855C-4E18217E6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03707F-4E11-4751-A653-12E3FE2DB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63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D23C2A-1600-4379-808D-3BE04B82A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2DEBBC-BB3C-4EBE-BA29-80560A99D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D698A6-BB24-453D-BA15-6CC754BB1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FAE5B-6DF3-46B8-A2B1-86BA6214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EE1A08-B7CF-4C4C-90D2-C38FD135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5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A1958-8F64-4028-8D35-89025E8C3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3BB25D-49FF-479C-A1E2-950279C50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F35FAE-CF57-4478-9FB2-66EA5723B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EF3A24-C2E6-4D10-BC99-D2D3F525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DBDCAC-1D20-4973-874E-AEAE2083D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228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6138E9-7A71-48F2-B4F4-F6395D3E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A3B5C2-78FF-4417-9768-2DF804EB5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341CB0-6B35-487C-90B4-2F81C257B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65451F-162A-48D9-82AD-6DDDCE2D5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3B02BD-1157-4D72-9F1F-F4E7672B5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18E019-7940-4014-9571-38C8F6B5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66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EAE12-024C-4FE3-AD04-74C3AFFC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362931-1F48-4291-AE25-F4F5BA765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80D1D4-BB1F-4CE5-9152-831CF190A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A9B7C0-FCEA-468C-AE3A-ACC132736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B0C4EA-E2A3-486D-9CA8-26E87B973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11699B-2BB9-496A-A46D-27AA9C52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BEDA889-9728-451A-A115-A612F25E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63682F3-4D35-4524-8C2C-4A6776F2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29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9D116-DC2E-4C9F-9BA6-F4973F6C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097CDB-1AF7-443F-9D3B-8DFB4759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C86319-F7C5-4A32-A00B-CF16F43B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4DCDBD-3CD9-49EE-8486-047823EC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00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C7BB6E4-BAB8-4D57-8EC5-C6E85ACB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2CA7F81-8570-40E3-A5D8-6B713615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801F0D-FFFD-4F66-8DA6-2035131C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84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B2279-958A-4F63-B411-14399250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63A3F7-327F-4543-860F-2BE4B35F1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C71DCC-EC3A-4EB9-A67E-C96116EE7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ED9112-3F7E-4F33-BC9C-FF0224E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470060-04AE-4C43-8B88-ADBB73E3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320487-B3D1-4AA6-9AEA-F122BC26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41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4CA31-05B6-4157-8AB0-D1DD05A94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3AEF0B-8F82-4E1A-9CB6-156869AAD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A0F16D-FE87-487F-9CC0-A8F8D8341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AA0DD4-98F4-434F-94C9-B79E0175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C20A0-C757-46D0-9B40-56F4B593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90637B-D981-4E5D-AD98-C5877F97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13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B7989-D3CC-439B-BDB1-E46CA832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4234DB-808D-4B9F-8B28-2DCF93136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BDFFE0-C8B3-4D8D-B546-50490AA8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1F303E-067B-48F1-B0FB-496CE4306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E1924E-6577-4DE5-8750-363F751DA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14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336B305-F626-4CE2-B90F-6DE4CF9F4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6E2EAA-5146-4671-826B-D8CBC2CA9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8102BA-4E21-4C6A-A3D9-D5BEBC90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9D1EA3-6C10-4021-A4A7-FAB49EC8A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B2F751-855F-491A-812B-71CF9AB2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914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27190-C0F3-44FA-9196-08BE9927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E71AF5-899E-4ABA-A9E5-B7EE9E69A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14D0CF-614A-45DC-9C7A-B22E44EF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6BEDB4-D7B0-441B-B86C-DB337EAA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25BFC5-CEA8-4C51-8976-0E3867EA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40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92C88-5293-42F0-A458-A9745504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E688AB-576C-48FE-8E58-E50F314E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C9B978-D11D-481A-8D5F-9E1F524B2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2B0AB-8335-42E2-9359-1706C2BA4DAC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1CB596-168B-4793-823B-0B38D2FBE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128C3C-C747-4E25-92B8-4C919D77D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69DD4-3D88-4C44-9D51-8FEB78E56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7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5342436-F594-4E41-A999-31670F3811C7}"/>
              </a:ext>
            </a:extLst>
          </p:cNvPr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748F7C-5E24-40C4-AEE7-DB03F95146F6}"/>
              </a:ext>
            </a:extLst>
          </p:cNvPr>
          <p:cNvSpPr/>
          <p:nvPr/>
        </p:nvSpPr>
        <p:spPr>
          <a:xfrm>
            <a:off x="4267200" y="0"/>
            <a:ext cx="76200" cy="6858000"/>
          </a:xfrm>
          <a:prstGeom prst="rect">
            <a:avLst/>
          </a:prstGeom>
          <a:solidFill>
            <a:srgbClr val="0096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C271E-DEE0-4A3C-9E5D-46303B77CCA4}"/>
              </a:ext>
            </a:extLst>
          </p:cNvPr>
          <p:cNvSpPr txBox="1"/>
          <p:nvPr/>
        </p:nvSpPr>
        <p:spPr>
          <a:xfrm>
            <a:off x="4876800" y="1714500"/>
            <a:ext cx="6705600" cy="12618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3800" b="1">
                <a:solidFill>
                  <a:srgbClr val="182B49"/>
                </a:solidFill>
                <a:latin typeface="Segoe UI" panose="020B0502040204020203" pitchFamily="34" charset="0"/>
              </a:rPr>
              <a:t>Методы предварительного анализа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C646A-F803-49AD-BA66-D019E2D28134}"/>
              </a:ext>
            </a:extLst>
          </p:cNvPr>
          <p:cNvSpPr txBox="1"/>
          <p:nvPr/>
        </p:nvSpPr>
        <p:spPr>
          <a:xfrm>
            <a:off x="4876800" y="3566160"/>
            <a:ext cx="67056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>
                <a:solidFill>
                  <a:srgbClr val="2B303B"/>
                </a:solidFill>
                <a:latin typeface="Segoe UI" panose="020B0502040204020203" pitchFamily="34" charset="0"/>
              </a:rPr>
              <a:t>Исследование взаимосвязи игровой активности, качества сна и психологического состояния респондентов</a:t>
            </a:r>
          </a:p>
        </p:txBody>
      </p:sp>
    </p:spTree>
    <p:extLst>
      <p:ext uri="{BB962C8B-B14F-4D97-AF65-F5344CB8AC3E}">
        <p14:creationId xmlns:p14="http://schemas.microsoft.com/office/powerpoint/2010/main" val="113515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E96D226-07C0-45DB-982C-5C2F4820C387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52B9D-C7A9-4771-AD05-3B6771E308F5}"/>
              </a:ext>
            </a:extLst>
          </p:cNvPr>
          <p:cNvSpPr txBox="1"/>
          <p:nvPr/>
        </p:nvSpPr>
        <p:spPr>
          <a:xfrm>
            <a:off x="609600" y="137160"/>
            <a:ext cx="10972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b="1">
                <a:solidFill>
                  <a:srgbClr val="FFFFFF"/>
                </a:solidFill>
                <a:latin typeface="Segoe UI" panose="020B0502040204020203" pitchFamily="34" charset="0"/>
              </a:rPr>
              <a:t>01. ОПИСАНИЕ ВЫБРАННОГО НАБОРА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B876C-BA09-4D40-8C3A-E42A4B626C73}"/>
              </a:ext>
            </a:extLst>
          </p:cNvPr>
          <p:cNvSpPr txBox="1"/>
          <p:nvPr/>
        </p:nvSpPr>
        <p:spPr>
          <a:xfrm>
            <a:off x="609600" y="1508760"/>
            <a:ext cx="512064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• Источник данных: Файл '</a:t>
            </a:r>
            <a:r>
              <a:rPr lang="ru-RU" sz="1500" dirty="0" err="1">
                <a:solidFill>
                  <a:srgbClr val="2B303B"/>
                </a:solidFill>
                <a:latin typeface="Segoe UI" panose="020B0502040204020203" pitchFamily="34" charset="0"/>
              </a:rPr>
              <a:t>Gaming</a:t>
            </a:r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 </a:t>
            </a:r>
            <a:r>
              <a:rPr lang="ru-RU" sz="1500" dirty="0" err="1">
                <a:solidFill>
                  <a:srgbClr val="2B303B"/>
                </a:solidFill>
                <a:latin typeface="Segoe UI" panose="020B0502040204020203" pitchFamily="34" charset="0"/>
              </a:rPr>
              <a:t>and</a:t>
            </a:r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 </a:t>
            </a:r>
            <a:r>
              <a:rPr lang="ru-RU" sz="1500" dirty="0" err="1">
                <a:solidFill>
                  <a:srgbClr val="2B303B"/>
                </a:solidFill>
                <a:latin typeface="Segoe UI" panose="020B0502040204020203" pitchFamily="34" charset="0"/>
              </a:rPr>
              <a:t>Mental</a:t>
            </a:r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 Health.csv'</a:t>
            </a:r>
          </a:p>
          <a:p>
            <a:endParaRPr lang="ru-RU" sz="1500" dirty="0">
              <a:solidFill>
                <a:srgbClr val="2B303B"/>
              </a:solidFill>
              <a:latin typeface="Segoe UI" panose="020B0502040204020203" pitchFamily="34" charset="0"/>
            </a:endParaRPr>
          </a:p>
          <a:p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• Ключевые исследуемые признаки:</a:t>
            </a:r>
          </a:p>
          <a:p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   - Демография: Возраст респондентов.</a:t>
            </a:r>
          </a:p>
          <a:p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   - Поведение: Ежедневное количество часов в игре (</a:t>
            </a:r>
            <a:r>
              <a:rPr lang="ru-RU" sz="1500" dirty="0" err="1">
                <a:solidFill>
                  <a:srgbClr val="2B303B"/>
                </a:solidFill>
                <a:latin typeface="Segoe UI" panose="020B0502040204020203" pitchFamily="34" charset="0"/>
              </a:rPr>
              <a:t>daily_gaming_hours</a:t>
            </a:r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), продолжительность сна (</a:t>
            </a:r>
            <a:r>
              <a:rPr lang="ru-RU" sz="1500" dirty="0" err="1">
                <a:solidFill>
                  <a:srgbClr val="2B303B"/>
                </a:solidFill>
                <a:latin typeface="Segoe UI" panose="020B0502040204020203" pitchFamily="34" charset="0"/>
              </a:rPr>
              <a:t>sleep_hours</a:t>
            </a:r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).</a:t>
            </a:r>
          </a:p>
          <a:p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   - Академические метрики: Средний балл успеваемости (</a:t>
            </a:r>
            <a:r>
              <a:rPr lang="ru-RU" sz="1500" dirty="0" err="1">
                <a:solidFill>
                  <a:srgbClr val="2B303B"/>
                </a:solidFill>
                <a:latin typeface="Segoe UI" panose="020B0502040204020203" pitchFamily="34" charset="0"/>
              </a:rPr>
              <a:t>grades_gpa</a:t>
            </a:r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).</a:t>
            </a:r>
          </a:p>
          <a:p>
            <a:endParaRPr lang="ru-RU" sz="1500" dirty="0">
              <a:solidFill>
                <a:srgbClr val="2B303B"/>
              </a:solidFill>
              <a:latin typeface="Segoe UI" panose="020B0502040204020203" pitchFamily="34" charset="0"/>
            </a:endParaRPr>
          </a:p>
          <a:p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• Целевой признак: Уровень риска развития игровой зависимости (</a:t>
            </a:r>
            <a:r>
              <a:rPr lang="ru-RU" sz="1500" dirty="0" err="1">
                <a:solidFill>
                  <a:srgbClr val="2B303B"/>
                </a:solidFill>
                <a:latin typeface="Segoe UI" panose="020B0502040204020203" pitchFamily="34" charset="0"/>
              </a:rPr>
              <a:t>gaming_addiction_risk_level</a:t>
            </a:r>
            <a:r>
              <a:rPr lang="ru-RU" sz="1500" dirty="0">
                <a:solidFill>
                  <a:srgbClr val="2B303B"/>
                </a:solidFill>
                <a:latin typeface="Segoe UI" panose="020B0502040204020203" pitchFamily="34" charset="0"/>
              </a:rPr>
              <a:t>).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54A581-9BE9-4277-9C39-1E075330233B}"/>
              </a:ext>
            </a:extLst>
          </p:cNvPr>
          <p:cNvSpPr/>
          <p:nvPr/>
        </p:nvSpPr>
        <p:spPr>
          <a:xfrm>
            <a:off x="6339840" y="1714500"/>
            <a:ext cx="5242560" cy="3429000"/>
          </a:xfrm>
          <a:prstGeom prst="rect">
            <a:avLst/>
          </a:prstGeom>
          <a:solidFill>
            <a:srgbClr val="F2F4F7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35AC6-3844-4A69-885A-0A19F0736E38}"/>
              </a:ext>
            </a:extLst>
          </p:cNvPr>
          <p:cNvSpPr txBox="1"/>
          <p:nvPr/>
        </p:nvSpPr>
        <p:spPr>
          <a:xfrm>
            <a:off x="6583680" y="1920240"/>
            <a:ext cx="475488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500" i="1" dirty="0">
                <a:solidFill>
                  <a:srgbClr val="182B49"/>
                </a:solidFill>
                <a:latin typeface="Segoe UI" panose="020B0502040204020203" pitchFamily="34" charset="0"/>
              </a:rPr>
              <a:t>Основная цель этапа исследования:</a:t>
            </a:r>
          </a:p>
          <a:p>
            <a:endParaRPr lang="ru-RU" sz="1500" i="1" dirty="0">
              <a:solidFill>
                <a:srgbClr val="182B49"/>
              </a:solidFill>
              <a:latin typeface="Segoe UI" panose="020B0502040204020203" pitchFamily="34" charset="0"/>
            </a:endParaRPr>
          </a:p>
          <a:p>
            <a:r>
              <a:rPr lang="ru-RU" sz="1500" i="1" dirty="0">
                <a:solidFill>
                  <a:srgbClr val="182B49"/>
                </a:solidFill>
                <a:latin typeface="Segoe UI" panose="020B0502040204020203" pitchFamily="34" charset="0"/>
              </a:rPr>
              <a:t>Проведение комплексного разведочного анализа (EDA), выявление скрытых нелинейных зависимостей, очистка данных от шумов и подготовка качественного </a:t>
            </a:r>
            <a:r>
              <a:rPr lang="ru-RU" sz="1500" i="1" dirty="0" err="1">
                <a:solidFill>
                  <a:srgbClr val="182B49"/>
                </a:solidFill>
                <a:latin typeface="Segoe UI" panose="020B0502040204020203" pitchFamily="34" charset="0"/>
              </a:rPr>
              <a:t>подмассива</a:t>
            </a:r>
            <a:r>
              <a:rPr lang="ru-RU" sz="1500" i="1" dirty="0">
                <a:solidFill>
                  <a:srgbClr val="182B49"/>
                </a:solidFill>
                <a:latin typeface="Segoe UI" panose="020B0502040204020203" pitchFamily="34" charset="0"/>
              </a:rPr>
              <a:t> признаков для последующего этапа математического моделирования.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732068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4A4782B-8CC7-41D6-9E9C-298CB52D0D96}"/>
              </a:ext>
            </a:extLst>
          </p:cNvPr>
          <p:cNvSpPr/>
          <p:nvPr/>
        </p:nvSpPr>
        <p:spPr>
          <a:xfrm>
            <a:off x="679938" y="4682793"/>
            <a:ext cx="4460631" cy="991175"/>
          </a:xfrm>
          <a:prstGeom prst="rect">
            <a:avLst/>
          </a:prstGeom>
          <a:solidFill>
            <a:srgbClr val="F2F4F7"/>
          </a:solidFill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ru-RU" sz="1200" b="1" dirty="0">
              <a:solidFill>
                <a:srgbClr val="182B49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FB2725-E0D5-47FA-81E0-E50111BEF3F9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5577-EEC2-4D39-86B1-E8B367C81663}"/>
              </a:ext>
            </a:extLst>
          </p:cNvPr>
          <p:cNvSpPr txBox="1"/>
          <p:nvPr/>
        </p:nvSpPr>
        <p:spPr>
          <a:xfrm>
            <a:off x="609600" y="137160"/>
            <a:ext cx="10972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b="1">
                <a:solidFill>
                  <a:srgbClr val="FFFFFF"/>
                </a:solidFill>
                <a:latin typeface="Segoe UI" panose="020B0502040204020203" pitchFamily="34" charset="0"/>
              </a:rPr>
              <a:t>02. ПРЕДОБРАБОТКА: ОЧИСТКА ОТ ДУБЛИКАТОВ И ВЫБРОСОВ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B2A4C2-1623-428D-A390-8469B9B340CC}"/>
              </a:ext>
            </a:extLst>
          </p:cNvPr>
          <p:cNvSpPr txBox="1"/>
          <p:nvPr/>
        </p:nvSpPr>
        <p:spPr>
          <a:xfrm>
            <a:off x="609600" y="1508760"/>
            <a:ext cx="512064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1. Очистка от полных дубликатов:</a:t>
            </a:r>
          </a:p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На этапе первичного аудита структуры </a:t>
            </a:r>
            <a:r>
              <a:rPr lang="ru-RU" sz="1400" dirty="0" err="1">
                <a:solidFill>
                  <a:srgbClr val="2B303B"/>
                </a:solidFill>
                <a:latin typeface="Segoe UI" panose="020B0502040204020203" pitchFamily="34" charset="0"/>
              </a:rPr>
              <a:t>датасета</a:t>
            </a:r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 были успешно идентифицированы и удалены 11 полных дублирующих строк. Это позволило исключить искусственное завышение плотности данных.</a:t>
            </a:r>
          </a:p>
          <a:p>
            <a:endParaRPr lang="ru-RU" sz="1400" dirty="0">
              <a:solidFill>
                <a:srgbClr val="2B303B"/>
              </a:solidFill>
              <a:latin typeface="Segoe UI" panose="020B0502040204020203" pitchFamily="34" charset="0"/>
            </a:endParaRPr>
          </a:p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2. Фильтрация экстремальных аномалий (Выбросов):</a:t>
            </a:r>
          </a:p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Для непрерывных числовых признаков применен метод </a:t>
            </a:r>
            <a:r>
              <a:rPr lang="ru-RU" sz="1400" dirty="0" err="1">
                <a:solidFill>
                  <a:srgbClr val="2B303B"/>
                </a:solidFill>
                <a:latin typeface="Segoe UI" panose="020B0502040204020203" pitchFamily="34" charset="0"/>
              </a:rPr>
              <a:t>межквартильного</a:t>
            </a:r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 размаха (IQR). Было локализовано и удалено 6 аномальных записей, выходящих за границы стандартных распределений, что критически важно для точности будущих алгоритмов.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9300794-9521-40E5-A6D4-9C438AE3EA59}"/>
              </a:ext>
            </a:extLst>
          </p:cNvPr>
          <p:cNvSpPr/>
          <p:nvPr/>
        </p:nvSpPr>
        <p:spPr>
          <a:xfrm>
            <a:off x="6648973" y="1374521"/>
            <a:ext cx="4380366" cy="4630323"/>
          </a:xfrm>
          <a:prstGeom prst="rect">
            <a:avLst/>
          </a:prstGeom>
          <a:solidFill>
            <a:srgbClr val="F2F4F7"/>
          </a:solidFill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ru-RU" sz="1200" b="1" dirty="0">
              <a:solidFill>
                <a:srgbClr val="182B49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752CC5-7FDC-4C00-964A-FBBAE3EB11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5" r="15727" b="87864"/>
          <a:stretch/>
        </p:blipFill>
        <p:spPr>
          <a:xfrm>
            <a:off x="679938" y="4682793"/>
            <a:ext cx="4460631" cy="9911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EF27067-839B-4D40-80AC-7D6CE947E7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84" t="12278" b="18127"/>
          <a:stretch/>
        </p:blipFill>
        <p:spPr>
          <a:xfrm>
            <a:off x="6648973" y="1374522"/>
            <a:ext cx="4380366" cy="463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16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440190-D8A0-4E0B-8EA8-F32DADCC021E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8CDF0-66CE-4EEE-B82F-C4F6A21830D7}"/>
              </a:ext>
            </a:extLst>
          </p:cNvPr>
          <p:cNvSpPr txBox="1"/>
          <p:nvPr/>
        </p:nvSpPr>
        <p:spPr>
          <a:xfrm>
            <a:off x="609600" y="137160"/>
            <a:ext cx="10972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Segoe UI" panose="020B0502040204020203" pitchFamily="34" charset="0"/>
              </a:rPr>
              <a:t>03. РАЗДЕЛЕНИЕ ПРИЗНАКОВ ДЛЯ АНАЛИЗА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3A3EC-EEC2-435C-80CE-6CFDF8E68147}"/>
              </a:ext>
            </a:extLst>
          </p:cNvPr>
          <p:cNvSpPr txBox="1"/>
          <p:nvPr/>
        </p:nvSpPr>
        <p:spPr>
          <a:xfrm>
            <a:off x="609600" y="1508760"/>
            <a:ext cx="524256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Аналитическая логика обработки пропусков в </a:t>
            </a:r>
            <a:r>
              <a:rPr lang="ru-RU" sz="1400" dirty="0" err="1">
                <a:solidFill>
                  <a:srgbClr val="2B303B"/>
                </a:solidFill>
                <a:latin typeface="Segoe UI" panose="020B0502040204020203" pitchFamily="34" charset="0"/>
              </a:rPr>
              <a:t>grades_gpa</a:t>
            </a:r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:</a:t>
            </a:r>
          </a:p>
          <a:p>
            <a:endParaRPr lang="ru-RU" sz="1400" dirty="0">
              <a:solidFill>
                <a:srgbClr val="2B303B"/>
              </a:solidFill>
              <a:latin typeface="Segoe UI" panose="020B0502040204020203" pitchFamily="34" charset="0"/>
            </a:endParaRPr>
          </a:p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• При удалении строк с пропусками максимальный возраст респондентов падал с 35 до 22 лет.</a:t>
            </a:r>
          </a:p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• Инсайт: Признак успеваемости неприменим к работающим геймерам (23-35 лет), так как они уже не учатся.</a:t>
            </a:r>
          </a:p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• Решение: Вместо удаления данных было принято решение работать с целой </a:t>
            </a:r>
            <a:r>
              <a:rPr lang="ru-RU" sz="1400" dirty="0" err="1">
                <a:solidFill>
                  <a:srgbClr val="2B303B"/>
                </a:solidFill>
                <a:latin typeface="Segoe UI" panose="020B0502040204020203" pitchFamily="34" charset="0"/>
              </a:rPr>
              <a:t>подвыборкой</a:t>
            </a:r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, но без признака успеваемости.</a:t>
            </a:r>
          </a:p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 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937600-13DD-4A0E-8116-34A9339D6A69}"/>
              </a:ext>
            </a:extLst>
          </p:cNvPr>
          <p:cNvSpPr/>
          <p:nvPr/>
        </p:nvSpPr>
        <p:spPr>
          <a:xfrm>
            <a:off x="6276535" y="1678027"/>
            <a:ext cx="5364480" cy="3790202"/>
          </a:xfrm>
          <a:prstGeom prst="rect">
            <a:avLst/>
          </a:prstGeom>
          <a:solidFill>
            <a:srgbClr val="F2F4F7"/>
          </a:solidFill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ru-RU" sz="1200" b="1" dirty="0">
              <a:solidFill>
                <a:srgbClr val="182B49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CD7C52-A178-4328-97D8-21782DE49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535" y="1678028"/>
            <a:ext cx="5364480" cy="37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82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713A1C1-4C81-42F9-ABC9-8690296C5D2D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25174B-2E8A-43B9-A445-54260D600022}"/>
              </a:ext>
            </a:extLst>
          </p:cNvPr>
          <p:cNvSpPr txBox="1"/>
          <p:nvPr/>
        </p:nvSpPr>
        <p:spPr>
          <a:xfrm>
            <a:off x="609600" y="137160"/>
            <a:ext cx="10972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Segoe UI" panose="020B0502040204020203" pitchFamily="34" charset="0"/>
              </a:rPr>
              <a:t>04. РАЗВЕДОЧНЫЙ АНАЛИЗ И ОПИСАТЕЛЬНАЯ СТАТИСТИКА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432CF9-0CBA-4617-B931-F63590C48B47}"/>
              </a:ext>
            </a:extLst>
          </p:cNvPr>
          <p:cNvSpPr/>
          <p:nvPr/>
        </p:nvSpPr>
        <p:spPr>
          <a:xfrm>
            <a:off x="609600" y="1234440"/>
            <a:ext cx="3291840" cy="123444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51474-5A0B-462C-893C-1C7070C60597}"/>
              </a:ext>
            </a:extLst>
          </p:cNvPr>
          <p:cNvSpPr txBox="1"/>
          <p:nvPr/>
        </p:nvSpPr>
        <p:spPr>
          <a:xfrm>
            <a:off x="731520" y="1303020"/>
            <a:ext cx="304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Размерность выборки</a:t>
            </a:r>
          </a:p>
          <a:p>
            <a:r>
              <a:rPr lang="ru-RU" sz="1200">
                <a:solidFill>
                  <a:srgbClr val="FFFFFF"/>
                </a:solidFill>
              </a:rPr>
              <a:t>Анализ формы датасета, типов данных и типов признаков (категориальные/числовые).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12E4A9B-F697-448A-B496-DB9FCF8631E1}"/>
              </a:ext>
            </a:extLst>
          </p:cNvPr>
          <p:cNvSpPr/>
          <p:nvPr/>
        </p:nvSpPr>
        <p:spPr>
          <a:xfrm>
            <a:off x="4450080" y="1234440"/>
            <a:ext cx="3291840" cy="1234440"/>
          </a:xfrm>
          <a:prstGeom prst="rect">
            <a:avLst/>
          </a:prstGeom>
          <a:solidFill>
            <a:srgbClr val="0096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E08E6-5D62-4A48-9847-50F123D4457A}"/>
              </a:ext>
            </a:extLst>
          </p:cNvPr>
          <p:cNvSpPr txBox="1"/>
          <p:nvPr/>
        </p:nvSpPr>
        <p:spPr>
          <a:xfrm>
            <a:off x="4572000" y="1303020"/>
            <a:ext cx="304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 dirty="0">
                <a:solidFill>
                  <a:srgbClr val="FFFFFF"/>
                </a:solidFill>
              </a:rPr>
              <a:t>Центральные тенденции</a:t>
            </a:r>
          </a:p>
          <a:p>
            <a:r>
              <a:rPr lang="ru-RU" sz="1200" dirty="0">
                <a:solidFill>
                  <a:srgbClr val="FFFFFF"/>
                </a:solidFill>
              </a:rPr>
              <a:t>Оценка распределения категориального признака среди опрошенных участников.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156023A-4BE1-41EA-855A-F5C3568D91B1}"/>
              </a:ext>
            </a:extLst>
          </p:cNvPr>
          <p:cNvSpPr/>
          <p:nvPr/>
        </p:nvSpPr>
        <p:spPr>
          <a:xfrm>
            <a:off x="8290560" y="1234440"/>
            <a:ext cx="3291840" cy="123444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E5FAF-7136-420E-9B8C-1D3149A7C72B}"/>
              </a:ext>
            </a:extLst>
          </p:cNvPr>
          <p:cNvSpPr txBox="1"/>
          <p:nvPr/>
        </p:nvSpPr>
        <p:spPr>
          <a:xfrm>
            <a:off x="8412480" y="1303020"/>
            <a:ext cx="304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Дисперсионный анализ</a:t>
            </a:r>
          </a:p>
          <a:p>
            <a:r>
              <a:rPr lang="ru-RU" sz="1200">
                <a:solidFill>
                  <a:srgbClr val="FFFFFF"/>
                </a:solidFill>
              </a:rPr>
              <a:t>Оценка разброса: минимумы, максимумы, стандартное отклонение и квартили признаков.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87E23B-BBD4-418F-B664-2D87948351E2}"/>
              </a:ext>
            </a:extLst>
          </p:cNvPr>
          <p:cNvSpPr/>
          <p:nvPr/>
        </p:nvSpPr>
        <p:spPr>
          <a:xfrm>
            <a:off x="1365738" y="2880360"/>
            <a:ext cx="9393912" cy="3291840"/>
          </a:xfrm>
          <a:prstGeom prst="rect">
            <a:avLst/>
          </a:prstGeom>
          <a:solidFill>
            <a:srgbClr val="F2F4F7"/>
          </a:solidFill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ru-RU" sz="1200" b="1" dirty="0">
              <a:solidFill>
                <a:srgbClr val="182B49"/>
              </a:solidFill>
              <a:latin typeface="Segoe UI" panose="020B0502040204020203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9C1F77F-73B7-44AB-979B-E31861D7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738" y="2880360"/>
            <a:ext cx="3647257" cy="329184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59936CB-D9EA-49B0-86D1-E31D19F71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995" y="2880360"/>
            <a:ext cx="5746655" cy="190692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17B2A0B-7998-426C-8335-D0CFC91854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84" t="83286"/>
          <a:stretch/>
        </p:blipFill>
        <p:spPr>
          <a:xfrm>
            <a:off x="4958149" y="4787283"/>
            <a:ext cx="5455632" cy="138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6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DA457B8-B4FC-49AB-A560-8DE14418DF0A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65478-BC6A-4924-AB18-9D533E9B837F}"/>
              </a:ext>
            </a:extLst>
          </p:cNvPr>
          <p:cNvSpPr txBox="1"/>
          <p:nvPr/>
        </p:nvSpPr>
        <p:spPr>
          <a:xfrm>
            <a:off x="609600" y="137160"/>
            <a:ext cx="10972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Segoe UI" panose="020B0502040204020203" pitchFamily="34" charset="0"/>
              </a:rPr>
              <a:t>05. АНАЛИЗ СТОЛБЧАТЫХ ДИАГРАММ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F034C7-17AB-4C76-942A-81BC48432B51}"/>
              </a:ext>
            </a:extLst>
          </p:cNvPr>
          <p:cNvSpPr txBox="1"/>
          <p:nvPr/>
        </p:nvSpPr>
        <p:spPr>
          <a:xfrm>
            <a:off x="1693984" y="1481527"/>
            <a:ext cx="4003431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400" dirty="0"/>
              <a:t>Левая диаграмма отражает распределение игроков по часам игры в день. Она указывает на то, что базовая игровая активность сосредоточена в пределах 4–6 часов в день, однако имеет длинный «аномальный хвост» интенсивного гейминга (до 14 часов).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72B529-E24C-43D2-ABB7-CED5AA1D8609}"/>
              </a:ext>
            </a:extLst>
          </p:cNvPr>
          <p:cNvSpPr/>
          <p:nvPr/>
        </p:nvSpPr>
        <p:spPr>
          <a:xfrm>
            <a:off x="1793629" y="3532393"/>
            <a:ext cx="7520355" cy="2652687"/>
          </a:xfrm>
          <a:prstGeom prst="rect">
            <a:avLst/>
          </a:prstGeom>
          <a:solidFill>
            <a:srgbClr val="F2F4F7"/>
          </a:solidFill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ru-RU" sz="1200" b="1" dirty="0">
              <a:solidFill>
                <a:srgbClr val="182B49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B1447-56FF-491F-8608-BDA95777DEF3}"/>
              </a:ext>
            </a:extLst>
          </p:cNvPr>
          <p:cNvSpPr txBox="1"/>
          <p:nvPr/>
        </p:nvSpPr>
        <p:spPr>
          <a:xfrm>
            <a:off x="6230815" y="1481527"/>
            <a:ext cx="40034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Правый график отражает распределение продолжительности ежедневного сна среди участников опроса. На нем четко выделяется один главный пик активности, приходящийся на 5–6 часов сна в сутки. Столь низкий показатель свидетельствует о том, что подавляющее большинство респондентов страдают от систематического недосыпа.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2891A5E-5BC0-407D-BFCE-8354D5156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629" y="3532393"/>
            <a:ext cx="7520355" cy="265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007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8E76E3D-8571-4E95-B973-D2FDEB410824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722CD-5401-4227-B187-36C50FB9BECD}"/>
              </a:ext>
            </a:extLst>
          </p:cNvPr>
          <p:cNvSpPr txBox="1"/>
          <p:nvPr/>
        </p:nvSpPr>
        <p:spPr>
          <a:xfrm>
            <a:off x="609600" y="137160"/>
            <a:ext cx="10972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Segoe UI" panose="020B0502040204020203" pitchFamily="34" charset="0"/>
              </a:rPr>
              <a:t>06. АНАЛИЗ ДИАГРАММЫ РАССЕЯНИЯ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1BCF1-8F55-4540-A5C9-4DF0E50C27C9}"/>
              </a:ext>
            </a:extLst>
          </p:cNvPr>
          <p:cNvSpPr txBox="1"/>
          <p:nvPr/>
        </p:nvSpPr>
        <p:spPr>
          <a:xfrm>
            <a:off x="609600" y="1508760"/>
            <a:ext cx="4876800" cy="31085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Распределение респондентов по возрасту (ось X) и количеству игровых часов в день (ось Y). Цвет каждой точки отражает степень риска развития игровой зависимости.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В возрастной категории до 25 лет наблюдается максимальная плотность точек критических классов риска — </a:t>
            </a:r>
            <a:r>
              <a:rPr lang="ru-RU" sz="1400" dirty="0" err="1">
                <a:solidFill>
                  <a:srgbClr val="2B303B"/>
                </a:solidFill>
                <a:latin typeface="Segoe UI" panose="020B0502040204020203" pitchFamily="34" charset="0"/>
              </a:rPr>
              <a:t>Severe</a:t>
            </a:r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 и High. Именно здесь зафиксированы экстремальные значения игрового времени (от 8 до 10+ часов в день).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У респондентов старше 25 лет плотность точек выраженно смещается вниз и влево — в зону </a:t>
            </a:r>
            <a:r>
              <a:rPr lang="ru-RU" sz="1400" dirty="0" err="1">
                <a:solidFill>
                  <a:srgbClr val="2B303B"/>
                </a:solidFill>
                <a:latin typeface="Segoe UI" panose="020B0502040204020203" pitchFamily="34" charset="0"/>
              </a:rPr>
              <a:t>Moderate</a:t>
            </a:r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) и </a:t>
            </a:r>
            <a:r>
              <a:rPr lang="ru-RU" sz="1400" dirty="0" err="1">
                <a:solidFill>
                  <a:srgbClr val="2B303B"/>
                </a:solidFill>
                <a:latin typeface="Segoe UI" panose="020B0502040204020203" pitchFamily="34" charset="0"/>
              </a:rPr>
              <a:t>Low</a:t>
            </a:r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 уровня рисков</a:t>
            </a:r>
          </a:p>
          <a:p>
            <a:r>
              <a:rPr lang="ru-RU" sz="1400" dirty="0">
                <a:solidFill>
                  <a:srgbClr val="2B303B"/>
                </a:solidFill>
                <a:latin typeface="Segoe UI" panose="020B0502040204020203" pitchFamily="34" charset="0"/>
              </a:rPr>
              <a:t>С увеличением возраста игровое время естественным образом снижается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F0EDAC-DC3F-460D-8D64-13601E14FAF3}"/>
              </a:ext>
            </a:extLst>
          </p:cNvPr>
          <p:cNvSpPr/>
          <p:nvPr/>
        </p:nvSpPr>
        <p:spPr>
          <a:xfrm>
            <a:off x="5680611" y="1813560"/>
            <a:ext cx="5901788" cy="3725594"/>
          </a:xfrm>
          <a:prstGeom prst="rect">
            <a:avLst/>
          </a:prstGeom>
          <a:solidFill>
            <a:srgbClr val="F2F4F7"/>
          </a:solidFill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ru-RU" sz="1200" b="1" dirty="0">
              <a:solidFill>
                <a:srgbClr val="182B49"/>
              </a:solidFill>
              <a:latin typeface="Segoe UI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E81340-21F7-4621-A246-3D1C97101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612" y="1813560"/>
            <a:ext cx="5901788" cy="372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8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669571-35B3-44BA-879B-61D23133B07D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04C5C-6FEC-4718-86C8-16812B06D84B}"/>
              </a:ext>
            </a:extLst>
          </p:cNvPr>
          <p:cNvSpPr txBox="1"/>
          <p:nvPr/>
        </p:nvSpPr>
        <p:spPr>
          <a:xfrm>
            <a:off x="609600" y="137160"/>
            <a:ext cx="10972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Segoe UI" panose="020B0502040204020203" pitchFamily="34" charset="0"/>
              </a:rPr>
              <a:t>07. АНАЛИЗ ДИАГРАММЫ РАССЕЯНИЯ (2)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9568A8C-E973-4687-8D19-53EB689D7368}"/>
              </a:ext>
            </a:extLst>
          </p:cNvPr>
          <p:cNvSpPr/>
          <p:nvPr/>
        </p:nvSpPr>
        <p:spPr>
          <a:xfrm>
            <a:off x="609600" y="1371599"/>
            <a:ext cx="4754880" cy="2746237"/>
          </a:xfrm>
          <a:prstGeom prst="rect">
            <a:avLst/>
          </a:prstGeom>
          <a:solidFill>
            <a:srgbClr val="F2F4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9763-800E-435C-A829-95A740774103}"/>
              </a:ext>
            </a:extLst>
          </p:cNvPr>
          <p:cNvSpPr txBox="1"/>
          <p:nvPr/>
        </p:nvSpPr>
        <p:spPr>
          <a:xfrm>
            <a:off x="731520" y="1440180"/>
            <a:ext cx="4556760" cy="24929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 dirty="0">
                <a:solidFill>
                  <a:srgbClr val="2B303B"/>
                </a:solidFill>
                <a:latin typeface="Segoe UI" panose="020B0502040204020203" pitchFamily="34" charset="0"/>
              </a:rPr>
              <a:t>Данная диаграмма рассеяния иллюстрирует распределение игрового времени и продолжительности сна респондентов. На графике отчетливо прослеживается обратная нелинейная зависимость и сильная кластеризация данных. В левом верхнем локализованы исключительно группы низкого риска. Напротив, правый нижний сегмент графика полностью сформирован игроками с высоким уровнем риска. Такая визуализация наглядно доказывает, что комбинация признаков дефицита сна и избыточного игрового времени является поводом для возникновения игровой зависимости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C3A204A-CCDF-4155-AC68-8A4552841780}"/>
              </a:ext>
            </a:extLst>
          </p:cNvPr>
          <p:cNvSpPr/>
          <p:nvPr/>
        </p:nvSpPr>
        <p:spPr>
          <a:xfrm>
            <a:off x="5750168" y="1371600"/>
            <a:ext cx="6086607" cy="3775238"/>
          </a:xfrm>
          <a:prstGeom prst="rect">
            <a:avLst/>
          </a:prstGeom>
          <a:solidFill>
            <a:srgbClr val="F2F4F7"/>
          </a:solidFill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ru-RU" sz="1200" b="1" dirty="0">
              <a:solidFill>
                <a:srgbClr val="182B49"/>
              </a:solidFill>
              <a:latin typeface="Segoe UI" panose="020B0502040204020203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B145345-3F31-4731-99A6-C412A8F51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169" y="1371600"/>
            <a:ext cx="6086608" cy="377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020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098C43-5E1B-4971-968F-4203CA22912E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C856B-9533-4E9E-9DF7-93F1165ECE7C}"/>
              </a:ext>
            </a:extLst>
          </p:cNvPr>
          <p:cNvSpPr txBox="1"/>
          <p:nvPr/>
        </p:nvSpPr>
        <p:spPr>
          <a:xfrm>
            <a:off x="609600" y="137160"/>
            <a:ext cx="10972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b="1" dirty="0">
                <a:solidFill>
                  <a:srgbClr val="FFFFFF"/>
                </a:solidFill>
                <a:latin typeface="Segoe UI" panose="020B0502040204020203" pitchFamily="34" charset="0"/>
              </a:rPr>
              <a:t>08. АНАЛИЗ МАТРИЦЫ ПОПАРНЫХ РАСПРЕДЕЛЕНИЙ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B476B-064D-4448-AB9F-A1F4F89DB2B5}"/>
              </a:ext>
            </a:extLst>
          </p:cNvPr>
          <p:cNvSpPr txBox="1"/>
          <p:nvPr/>
        </p:nvSpPr>
        <p:spPr>
          <a:xfrm>
            <a:off x="609600" y="1508760"/>
            <a:ext cx="4876800" cy="38933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 dirty="0">
                <a:solidFill>
                  <a:srgbClr val="2B303B"/>
                </a:solidFill>
                <a:latin typeface="Segoe UI" panose="020B0502040204020203" pitchFamily="34" charset="0"/>
              </a:rPr>
              <a:t>Матрица распределений позволяет сразу увидеть общую картину исследования. По линии диагонали графика четко видно разделение людей на две совершенно разные группы. Игроки с безопасным уровнем риска играют умеренно, всего по 1–2 часа в день, и сохраняют здоровый сон в районе 7–8 часов. В то же время критическая группа показывает экстремальное поведение: игровой день у них затягивается на 8–10 часов, а на сон остается критический минимум в 4–5 часов.</a:t>
            </a:r>
          </a:p>
          <a:p>
            <a:r>
              <a:rPr lang="ru-RU" sz="1300" dirty="0">
                <a:solidFill>
                  <a:srgbClr val="2B303B"/>
                </a:solidFill>
                <a:latin typeface="Segoe UI" panose="020B0502040204020203" pitchFamily="34" charset="0"/>
              </a:rPr>
              <a:t>Остальные части графика наглядно доказывают, что наши данные отлично делятся на категории. Например, если сопоставить игровое время и сон, то на графике образуются два отдельных, практически не связанных между собой лагеря. Мы видим, что у молодежи в возрасте от 18 до 22 лет, чем сильнее дефицит ночного отдыха, тем выше риск игровой зависимости.</a:t>
            </a:r>
          </a:p>
          <a:p>
            <a:r>
              <a:rPr lang="ru-RU" sz="1300" dirty="0">
                <a:solidFill>
                  <a:srgbClr val="2B303B"/>
                </a:solidFill>
                <a:latin typeface="Segoe UI" panose="020B0502040204020203" pitchFamily="34" charset="0"/>
              </a:rPr>
              <a:t>Такое четкое разделение данных полностью подтверждает, что возраст, время в игре и продолжительность сна — это ключевые признаки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27B4E32-8307-404E-AB17-F97B1B382348}"/>
              </a:ext>
            </a:extLst>
          </p:cNvPr>
          <p:cNvSpPr/>
          <p:nvPr/>
        </p:nvSpPr>
        <p:spPr>
          <a:xfrm>
            <a:off x="5852160" y="1508760"/>
            <a:ext cx="5470037" cy="4457700"/>
          </a:xfrm>
          <a:prstGeom prst="rect">
            <a:avLst/>
          </a:prstGeom>
          <a:solidFill>
            <a:srgbClr val="F2F4F7"/>
          </a:solidFill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ru-RU" sz="1200" b="1" dirty="0">
              <a:solidFill>
                <a:srgbClr val="182B49"/>
              </a:solidFill>
              <a:latin typeface="Segoe UI" panose="020B0502040204020203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EB6DFB7-D9DA-429D-A8FE-C43DE5728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160" y="1508760"/>
            <a:ext cx="5470037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971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9D0A0EC-19A2-44F1-BA30-1C06A86240A8}"/>
              </a:ext>
            </a:extLst>
          </p:cNvPr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94480-9786-4BE4-A7D4-97EC8C7C9912}"/>
              </a:ext>
            </a:extLst>
          </p:cNvPr>
          <p:cNvSpPr txBox="1"/>
          <p:nvPr/>
        </p:nvSpPr>
        <p:spPr>
          <a:xfrm>
            <a:off x="609600" y="137160"/>
            <a:ext cx="10972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b="1">
                <a:solidFill>
                  <a:srgbClr val="FFFFFF"/>
                </a:solidFill>
                <a:latin typeface="Segoe UI" panose="020B0502040204020203" pitchFamily="34" charset="0"/>
              </a:rPr>
              <a:t>09. ЗАКЛЮЧЕНИЕ И КЛЮЧЕВЫЕ ВЫВОДЫ ПО РАБОТЕ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745548-FE1B-4351-A38B-6C3A96A0F4AB}"/>
              </a:ext>
            </a:extLst>
          </p:cNvPr>
          <p:cNvSpPr/>
          <p:nvPr/>
        </p:nvSpPr>
        <p:spPr>
          <a:xfrm>
            <a:off x="609600" y="1714500"/>
            <a:ext cx="3291840" cy="3771900"/>
          </a:xfrm>
          <a:prstGeom prst="rect">
            <a:avLst/>
          </a:prstGeom>
          <a:solidFill>
            <a:srgbClr val="182B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FD2AD-48C4-47DC-8FE6-3B72E848FB86}"/>
              </a:ext>
            </a:extLst>
          </p:cNvPr>
          <p:cNvSpPr txBox="1"/>
          <p:nvPr/>
        </p:nvSpPr>
        <p:spPr>
          <a:xfrm>
            <a:off x="731520" y="1920240"/>
            <a:ext cx="3048000" cy="14927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FFFFFF"/>
                </a:solidFill>
              </a:rPr>
              <a:t>Успешная предобработка</a:t>
            </a:r>
          </a:p>
          <a:p>
            <a:endParaRPr lang="ru-RU" sz="1300">
              <a:solidFill>
                <a:srgbClr val="FFFFFF"/>
              </a:solidFill>
            </a:endParaRPr>
          </a:p>
          <a:p>
            <a:r>
              <a:rPr lang="ru-RU" sz="1300">
                <a:solidFill>
                  <a:srgbClr val="FFFFFF"/>
                </a:solidFill>
              </a:rPr>
              <a:t>Проведен полный цикл очистки данных от шумов, дубликатов (11) и экстремальных выбросов (6). Исходная матрица приведена к стабильному виду.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517A69-66BD-42C0-95C3-735A8B248E4E}"/>
              </a:ext>
            </a:extLst>
          </p:cNvPr>
          <p:cNvSpPr/>
          <p:nvPr/>
        </p:nvSpPr>
        <p:spPr>
          <a:xfrm>
            <a:off x="4450080" y="1714500"/>
            <a:ext cx="3291840" cy="3771900"/>
          </a:xfrm>
          <a:prstGeom prst="rect">
            <a:avLst/>
          </a:prstGeom>
          <a:solidFill>
            <a:srgbClr val="F2F4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BF9D4-E62E-4992-AA97-7F6A8ACFB171}"/>
              </a:ext>
            </a:extLst>
          </p:cNvPr>
          <p:cNvSpPr txBox="1"/>
          <p:nvPr/>
        </p:nvSpPr>
        <p:spPr>
          <a:xfrm>
            <a:off x="4572000" y="1920240"/>
            <a:ext cx="3048000" cy="14927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182B49"/>
                </a:solidFill>
              </a:rPr>
              <a:t>Обоснование сегментации</a:t>
            </a:r>
          </a:p>
          <a:p>
            <a:endParaRPr lang="ru-RU" sz="1300">
              <a:solidFill>
                <a:srgbClr val="182B49"/>
              </a:solidFill>
            </a:endParaRPr>
          </a:p>
          <a:p>
            <a:r>
              <a:rPr lang="ru-RU" sz="1300">
                <a:solidFill>
                  <a:srgbClr val="182B49"/>
                </a:solidFill>
              </a:rPr>
              <a:t>Доказана природа пропусков в академической успеваемости. Выделение студенческого сегмента позволило избежать смещения статистических оценок.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5EC9EF-3465-4C6A-9CFC-83E0F1442269}"/>
              </a:ext>
            </a:extLst>
          </p:cNvPr>
          <p:cNvSpPr/>
          <p:nvPr/>
        </p:nvSpPr>
        <p:spPr>
          <a:xfrm>
            <a:off x="8290560" y="1714500"/>
            <a:ext cx="3291840" cy="3771900"/>
          </a:xfrm>
          <a:prstGeom prst="rect">
            <a:avLst/>
          </a:prstGeom>
          <a:solidFill>
            <a:srgbClr val="0096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7180C-D86A-410A-AB7E-9A7918B8E919}"/>
              </a:ext>
            </a:extLst>
          </p:cNvPr>
          <p:cNvSpPr txBox="1"/>
          <p:nvPr/>
        </p:nvSpPr>
        <p:spPr>
          <a:xfrm>
            <a:off x="8412480" y="1920240"/>
            <a:ext cx="30480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FFFFFF"/>
                </a:solidFill>
              </a:rPr>
              <a:t>Паттерны зависимостей</a:t>
            </a:r>
          </a:p>
          <a:p>
            <a:endParaRPr lang="ru-RU" sz="1300">
              <a:solidFill>
                <a:srgbClr val="FFFFFF"/>
              </a:solidFill>
            </a:endParaRPr>
          </a:p>
          <a:p>
            <a:r>
              <a:rPr lang="ru-RU" sz="1300">
                <a:solidFill>
                  <a:srgbClr val="FFFFFF"/>
                </a:solidFill>
              </a:rPr>
              <a:t>Проекционные методы визуализации подтвердили сильные нелинейные связи между критическим риском, временем игры (&gt;8 ч) и дефицитом сна.</a:t>
            </a:r>
          </a:p>
        </p:txBody>
      </p:sp>
    </p:spTree>
    <p:extLst>
      <p:ext uri="{BB962C8B-B14F-4D97-AF65-F5344CB8AC3E}">
        <p14:creationId xmlns:p14="http://schemas.microsoft.com/office/powerpoint/2010/main" val="34837098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835</Words>
  <Application>Microsoft Office PowerPoint</Application>
  <PresentationFormat>Широкоэкранный</PresentationFormat>
  <Paragraphs>58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</dc:title>
  <dc:creator>Дина Бадалян</dc:creator>
  <cp:lastModifiedBy>Дина Бадалян</cp:lastModifiedBy>
  <cp:revision>18</cp:revision>
  <dcterms:created xsi:type="dcterms:W3CDTF">2026-06-13T19:31:29Z</dcterms:created>
  <dcterms:modified xsi:type="dcterms:W3CDTF">2026-08-27T12:26:56Z</dcterms:modified>
</cp:coreProperties>
</file>